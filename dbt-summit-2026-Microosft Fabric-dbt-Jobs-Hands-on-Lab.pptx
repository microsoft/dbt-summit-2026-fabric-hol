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51077-932F-9640-B2A9-8E0696B2CC20}" v="526" dt="2026-09-10T23:18:56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22"/>
    <p:restoredTop sz="94521"/>
  </p:normalViewPr>
  <p:slideViewPr>
    <p:cSldViewPr snapToGrid="0">
      <p:cViewPr varScale="1">
        <p:scale>
          <a:sx n="115" d="100"/>
          <a:sy n="115" d="100"/>
        </p:scale>
        <p:origin x="2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scope supplied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33BC-EEA2-88B8-EB28-C173EFD7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F3D85-B4F6-584E-091E-F31077955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F10A7-BB18-9A63-AB35-5F56F1365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scope supplied by the user.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3C7A1-3DFC-C3F9-0ED5-955F5659FE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2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flow supplied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Alternative project-import path requested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Lab steps supplied by the user; product terminology aligned with Microsoft Learn </a:t>
            </a:r>
            <a:r>
              <a:rPr lang="en-US" dirty="0" err="1"/>
              <a:t>dbt</a:t>
            </a:r>
            <a:r>
              <a:rPr lang="en-US" dirty="0"/>
              <a:t> Job documentation.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67085"/>
                </a:solidFill>
              </a:rPr>
              <a:t>MICROSOFT FABRIC  |  DBT HANDS-ON 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36C8"/>
                </a:solidFill>
              </a:rPr>
              <a:t>90 MIN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dbt-summit-2026-fabric-ho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DBT-user-xxx@fabconbar26.onmicrosof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>
                <a:solidFill>
                  <a:srgbClr val="6E36C8"/>
                </a:solidFill>
              </a:rPr>
              <a:t>HANDS-ON LAB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266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82230"/>
                </a:solidFill>
              </a:rPr>
              <a:t>Transform data using </a:t>
            </a:r>
            <a:r>
              <a:rPr lang="en-US" sz="3800" b="1" dirty="0" err="1">
                <a:solidFill>
                  <a:srgbClr val="182230"/>
                </a:solidFill>
              </a:rPr>
              <a:t>dbt</a:t>
            </a:r>
            <a:r>
              <a:rPr lang="en-US" sz="3800" b="1" dirty="0">
                <a:solidFill>
                  <a:srgbClr val="182230"/>
                </a:solidFill>
              </a:rPr>
              <a:t> Jobs in Warehouse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76656" y="1965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67085"/>
                </a:solidFill>
              </a:rPr>
              <a:t>Microsoft Fabric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76656" y="2606040"/>
            <a:ext cx="10835640" cy="1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1554480" cy="960120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5C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419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82230"/>
                </a:solidFill>
              </a:rPr>
              <a:t>Prepared workspace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2313432" y="3401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667085"/>
                </a:solidFill>
              </a:rPr>
              <a:t>›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2560320" y="3108960"/>
            <a:ext cx="1554480" cy="96012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8D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7480" y="3419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82230"/>
                </a:solidFill>
              </a:rPr>
              <a:t>Seed data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187952" y="3401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667085"/>
                </a:solidFill>
              </a:rPr>
              <a:t>›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4434840" y="3108960"/>
            <a:ext cx="1554480" cy="960120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5C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3419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82230"/>
                </a:solidFill>
              </a:rPr>
              <a:t>dbt models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062472" y="3401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667085"/>
                </a:solidFill>
              </a:rPr>
              <a:t>›</a:t>
            </a:r>
            <a:endParaRPr lang="en-US" sz="2200"/>
          </a:p>
        </p:txBody>
      </p:sp>
      <p:sp>
        <p:nvSpPr>
          <p:cNvPr id="15" name="Shape 13"/>
          <p:cNvSpPr/>
          <p:nvPr/>
        </p:nvSpPr>
        <p:spPr>
          <a:xfrm>
            <a:off x="6309360" y="3108960"/>
            <a:ext cx="1554480" cy="96012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8D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3419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82230"/>
                </a:solidFill>
              </a:rPr>
              <a:t>DAG + tests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7936992" y="3401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667085"/>
                </a:solidFill>
              </a:rPr>
              <a:t>›</a:t>
            </a:r>
            <a:endParaRPr lang="en-US" sz="2200"/>
          </a:p>
        </p:txBody>
      </p:sp>
      <p:sp>
        <p:nvSpPr>
          <p:cNvPr id="18" name="Shape 16"/>
          <p:cNvSpPr/>
          <p:nvPr/>
        </p:nvSpPr>
        <p:spPr>
          <a:xfrm>
            <a:off x="8183880" y="3108960"/>
            <a:ext cx="1554480" cy="960120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5C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21040" y="3419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82230"/>
                </a:solidFill>
              </a:rPr>
              <a:t>Schedule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9811512" y="3401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667085"/>
                </a:solidFill>
              </a:rPr>
              <a:t>›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10058400" y="3108960"/>
            <a:ext cx="1554480" cy="96012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8D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95560" y="3419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82230"/>
                </a:solidFill>
              </a:rPr>
              <a:t>Semantic model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68580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E36C8"/>
                </a:solidFill>
              </a:rPr>
              <a:t>90 MINUTES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85800" y="5394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230"/>
                </a:solidFill>
              </a:rPr>
              <a:t>Warehouse and </a:t>
            </a:r>
            <a:r>
              <a:rPr lang="en-US" sz="1600" dirty="0" err="1">
                <a:solidFill>
                  <a:srgbClr val="182230"/>
                </a:solidFill>
              </a:rPr>
              <a:t>dbt</a:t>
            </a:r>
            <a:r>
              <a:rPr lang="en-US" sz="1600" dirty="0">
                <a:solidFill>
                  <a:srgbClr val="182230"/>
                </a:solidFill>
              </a:rPr>
              <a:t> Job are ready before the lab.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9979-4800-2411-9A45-4C6753FD88F7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0A0D95-41CC-2933-2125-7394E1827229}"/>
              </a:ext>
            </a:extLst>
          </p:cNvPr>
          <p:cNvSpPr/>
          <p:nvPr/>
        </p:nvSpPr>
        <p:spPr>
          <a:xfrm>
            <a:off x="658368" y="749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>
                <a:solidFill>
                  <a:srgbClr val="6E36C8"/>
                </a:solidFill>
              </a:rPr>
              <a:t>HANDS-ON LAB</a:t>
            </a:r>
            <a:endParaRPr lang="en-US"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6CFE3A-4130-21AC-7B4D-A53272996ACB}"/>
              </a:ext>
            </a:extLst>
          </p:cNvPr>
          <p:cNvSpPr/>
          <p:nvPr/>
        </p:nvSpPr>
        <p:spPr>
          <a:xfrm>
            <a:off x="658368" y="1298448"/>
            <a:ext cx="10266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2937"/>
                </a:solidFill>
              </a:rPr>
              <a:t>Lab instructions and slide navigation</a:t>
            </a:r>
            <a:endParaRPr lang="en-US" sz="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B80B59-7DDC-A193-99A0-1F415C38E241}"/>
              </a:ext>
            </a:extLst>
          </p:cNvPr>
          <p:cNvSpPr/>
          <p:nvPr/>
        </p:nvSpPr>
        <p:spPr>
          <a:xfrm>
            <a:off x="676656" y="1965960"/>
            <a:ext cx="10954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5B6472"/>
                </a:solidFill>
              </a:rPr>
              <a:t>Use the deck for facilitation and jump directly to the matching exercise in GitHub.</a:t>
            </a:r>
            <a:endParaRPr lang="en-US" sz="2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C93B07B-45BE-66F5-0D1F-10F95307D5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80DC4349-3D10-7AE3-A0AB-BA026D9AC2E8}"/>
              </a:ext>
            </a:extLst>
          </p:cNvPr>
          <p:cNvSpPr/>
          <p:nvPr/>
        </p:nvSpPr>
        <p:spPr>
          <a:xfrm>
            <a:off x="712216" y="2931160"/>
            <a:ext cx="4814824" cy="234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2F3706B4-A0EA-8FEC-18A5-6EA47DF09815}"/>
              </a:ext>
            </a:extLst>
          </p:cNvPr>
          <p:cNvSpPr/>
          <p:nvPr/>
        </p:nvSpPr>
        <p:spPr>
          <a:xfrm>
            <a:off x="995680" y="3187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GitHub repository</a:t>
            </a:r>
            <a:endParaRPr lang="en-US" sz="1800" dirty="0"/>
          </a:p>
        </p:txBody>
      </p:sp>
      <p:sp>
        <p:nvSpPr>
          <p:cNvPr id="28" name="Text 4">
            <a:hlinkClick r:id="rId3"/>
            <a:extLst>
              <a:ext uri="{FF2B5EF4-FFF2-40B4-BE49-F238E27FC236}">
                <a16:creationId xmlns:a16="http://schemas.microsoft.com/office/drawing/2014/main" id="{FD92DF81-6DD8-4467-A995-E70C0273E120}"/>
              </a:ext>
            </a:extLst>
          </p:cNvPr>
          <p:cNvSpPr/>
          <p:nvPr/>
        </p:nvSpPr>
        <p:spPr>
          <a:xfrm>
            <a:off x="995680" y="3591560"/>
            <a:ext cx="494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/>
              <a:t>github.com</a:t>
            </a:r>
            <a:r>
              <a:rPr lang="en-US" sz="1400" dirty="0"/>
              <a:t>/</a:t>
            </a:r>
            <a:r>
              <a:rPr lang="en-US" sz="1400" dirty="0" err="1"/>
              <a:t>microsoft</a:t>
            </a:r>
            <a:r>
              <a:rPr lang="en-US" sz="1400" dirty="0"/>
              <a:t>/dbt-summit-2026-fabric-hol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0609B9D-8491-B7AF-33D9-9477B16D8308}"/>
              </a:ext>
            </a:extLst>
          </p:cNvPr>
          <p:cNvSpPr/>
          <p:nvPr/>
        </p:nvSpPr>
        <p:spPr>
          <a:xfrm>
            <a:off x="995680" y="40457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</a:rPr>
              <a:t>Instructions file at repository root</a:t>
            </a:r>
          </a:p>
        </p:txBody>
      </p:sp>
      <p:sp>
        <p:nvSpPr>
          <p:cNvPr id="30" name="Text 4">
            <a:hlinkClick r:id="rId3"/>
            <a:extLst>
              <a:ext uri="{FF2B5EF4-FFF2-40B4-BE49-F238E27FC236}">
                <a16:creationId xmlns:a16="http://schemas.microsoft.com/office/drawing/2014/main" id="{EBA3E11D-CA57-B81A-9787-04849988693B}"/>
              </a:ext>
            </a:extLst>
          </p:cNvPr>
          <p:cNvSpPr/>
          <p:nvPr/>
        </p:nvSpPr>
        <p:spPr>
          <a:xfrm>
            <a:off x="995680" y="4456176"/>
            <a:ext cx="494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/hands-on-lab-</a:t>
            </a:r>
            <a:r>
              <a:rPr lang="en-US" sz="1400" dirty="0" err="1"/>
              <a:t>instructions.md</a:t>
            </a:r>
            <a:endParaRPr lang="en-US" sz="140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1650D0F9-063A-9C75-BB80-D676E0A5C4FD}"/>
              </a:ext>
            </a:extLst>
          </p:cNvPr>
          <p:cNvSpPr/>
          <p:nvPr/>
        </p:nvSpPr>
        <p:spPr>
          <a:xfrm>
            <a:off x="6227064" y="2931160"/>
            <a:ext cx="4814824" cy="234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A6ED897A-9E61-10E8-F1F6-FC16A556DD1A}"/>
              </a:ext>
            </a:extLst>
          </p:cNvPr>
          <p:cNvSpPr/>
          <p:nvPr/>
        </p:nvSpPr>
        <p:spPr>
          <a:xfrm>
            <a:off x="6535806" y="3187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How slides map to exercises</a:t>
            </a:r>
            <a:endParaRPr lang="en-US" sz="18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C9245A8A-D64A-B264-89E2-BC61C193F5C9}"/>
              </a:ext>
            </a:extLst>
          </p:cNvPr>
          <p:cNvSpPr/>
          <p:nvPr/>
        </p:nvSpPr>
        <p:spPr>
          <a:xfrm>
            <a:off x="6535806" y="3519932"/>
            <a:ext cx="43434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Find the exercise callout or exercise map in this deck.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Find the exercise section in hands-on-lab-</a:t>
            </a:r>
            <a:r>
              <a:rPr lang="en-US" sz="1400" dirty="0" err="1">
                <a:solidFill>
                  <a:srgbClr val="374151"/>
                </a:solidFill>
              </a:rPr>
              <a:t>instructions.md</a:t>
            </a:r>
            <a:r>
              <a:rPr lang="en-US" sz="1400" dirty="0">
                <a:solidFill>
                  <a:srgbClr val="374151"/>
                </a:solidFill>
              </a:rPr>
              <a:t> file to follow lab instructions and complete exercise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Return to the deck when the exercise is complete.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6901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2230"/>
                </a:solidFill>
              </a:rPr>
              <a:t>Lab journey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Start from a prepared workspace and focus the lab on data transformation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1691640"/>
            <a:ext cx="195681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956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683FF"/>
                </a:solidFill>
              </a:rPr>
              <a:t>1–2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749808" y="2487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82230"/>
                </a:solidFill>
              </a:rPr>
              <a:t>OPEN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49808" y="299923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7085"/>
                </a:solidFill>
              </a:rPr>
              <a:t>Sign in and verify the two prepared items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2871216" y="1691640"/>
            <a:ext cx="195681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35808" y="1956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683FF"/>
                </a:solidFill>
              </a:rPr>
              <a:t>3–4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3035808" y="2487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82230"/>
                </a:solidFill>
              </a:rPr>
              <a:t>LOAD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035808" y="299923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7085"/>
                </a:solidFill>
              </a:rPr>
              <a:t>Create seed tables and load sample data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157216" y="1691640"/>
            <a:ext cx="195681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21808" y="1956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683FF"/>
                </a:solidFill>
              </a:rPr>
              <a:t>5</a:t>
            </a:r>
            <a:endParaRPr lang="en-US" sz="1900"/>
          </a:p>
        </p:txBody>
      </p:sp>
      <p:sp>
        <p:nvSpPr>
          <p:cNvPr id="16" name="Text 14"/>
          <p:cNvSpPr/>
          <p:nvPr/>
        </p:nvSpPr>
        <p:spPr>
          <a:xfrm>
            <a:off x="5321808" y="2487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230"/>
                </a:solidFill>
              </a:rPr>
              <a:t>CONNECT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21808" y="299923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7085"/>
                </a:solidFill>
              </a:rPr>
              <a:t>Configure the prepared dbt Job target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7443216" y="1691640"/>
            <a:ext cx="1956816" cy="3246120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07808" y="1956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6E36C8"/>
                </a:solidFill>
              </a:rPr>
              <a:t>6–8</a:t>
            </a:r>
            <a:endParaRPr lang="en-US" sz="1900"/>
          </a:p>
        </p:txBody>
      </p:sp>
      <p:sp>
        <p:nvSpPr>
          <p:cNvPr id="20" name="Text 18"/>
          <p:cNvSpPr/>
          <p:nvPr/>
        </p:nvSpPr>
        <p:spPr>
          <a:xfrm>
            <a:off x="7607808" y="2487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230"/>
                </a:solidFill>
              </a:rPr>
              <a:t>IMPORT PROJECT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299923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7085"/>
                </a:solidFill>
              </a:rPr>
              <a:t>Upload the prepared project; manual build is optional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9729216" y="1691640"/>
            <a:ext cx="195681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93808" y="1956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683FF"/>
                </a:solidFill>
              </a:rPr>
              <a:t>9–14</a:t>
            </a:r>
            <a:endParaRPr lang="en-US" sz="1900"/>
          </a:p>
        </p:txBody>
      </p:sp>
      <p:sp>
        <p:nvSpPr>
          <p:cNvPr id="24" name="Text 22"/>
          <p:cNvSpPr/>
          <p:nvPr/>
        </p:nvSpPr>
        <p:spPr>
          <a:xfrm>
            <a:off x="9893808" y="2487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230"/>
                </a:solidFill>
              </a:rPr>
              <a:t>RUN AND 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93808" y="299923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7085"/>
                </a:solidFill>
              </a:rPr>
              <a:t>Run, test, schedule, verify, model</a:t>
            </a:r>
            <a:endParaRPr lang="en-US" sz="140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0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2230"/>
                </a:solidFill>
              </a:rPr>
              <a:t>Your assigned environment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The user and workspace always use the same three-digit suffix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7992" y="1645920"/>
            <a:ext cx="5166360" cy="3063240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2416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6E36C8"/>
                </a:solidFill>
              </a:rPr>
              <a:t>USER ACCOUNT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893063" y="2324100"/>
            <a:ext cx="48585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hlinkClick r:id="rId3"/>
              </a:rPr>
              <a:t>DBT-user-xxx@fabconbar26.onmicrosoft.com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91072" y="1645920"/>
            <a:ext cx="5166360" cy="306324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0256" y="1965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1683FF"/>
                </a:solidFill>
              </a:rPr>
              <a:t>MATCHING WORKSPACE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6620256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82230"/>
                </a:solidFill>
              </a:rPr>
              <a:t>dbt</a:t>
            </a:r>
            <a:r>
              <a:rPr lang="en-US" sz="2600" b="1" dirty="0">
                <a:solidFill>
                  <a:srgbClr val="182230"/>
                </a:solidFill>
              </a:rPr>
              <a:t>-fabric-</a:t>
            </a:r>
            <a:r>
              <a:rPr lang="en-US" sz="2600" b="1" dirty="0" err="1">
                <a:solidFill>
                  <a:srgbClr val="182230"/>
                </a:solidFill>
              </a:rPr>
              <a:t>ws</a:t>
            </a:r>
            <a:r>
              <a:rPr lang="en-US" sz="2600" b="1" dirty="0">
                <a:solidFill>
                  <a:srgbClr val="182230"/>
                </a:solidFill>
              </a:rPr>
              <a:t>-xxx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017520" y="51663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230"/>
                </a:solidFill>
              </a:rPr>
              <a:t>Example: DBT-user-001  →  dbt-fabric-ws-002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56692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681A"/>
                </a:solidFill>
              </a:rPr>
              <a:t>Use only the workspace matching your assigned user number.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1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Sign in and open your workspace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Exercise 1  |  Complete the steps, then check your result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07360" y="2323592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07360" y="24058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482848" y="231444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82230"/>
                </a:solidFill>
              </a:rPr>
              <a:t>Open the Fabric portal provided by the instructor.</a:t>
            </a:r>
            <a:endParaRPr lang="en-US" sz="1700"/>
          </a:p>
        </p:txBody>
      </p:sp>
      <p:sp>
        <p:nvSpPr>
          <p:cNvPr id="9" name="Shape 7"/>
          <p:cNvSpPr/>
          <p:nvPr/>
        </p:nvSpPr>
        <p:spPr>
          <a:xfrm>
            <a:off x="3007360" y="3036824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07360" y="31191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482848" y="30276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82230"/>
                </a:solidFill>
              </a:rPr>
              <a:t>Sign in with your assigned account and password.</a:t>
            </a:r>
            <a:endParaRPr lang="en-US" sz="1700"/>
          </a:p>
        </p:txBody>
      </p:sp>
      <p:sp>
        <p:nvSpPr>
          <p:cNvPr id="12" name="Shape 10"/>
          <p:cNvSpPr/>
          <p:nvPr/>
        </p:nvSpPr>
        <p:spPr>
          <a:xfrm>
            <a:off x="3007360" y="3750056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07360" y="38323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82848" y="374091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Open the workspace with the matching three-digit suffix.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99872" y="6355080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2752" y="6446520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1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2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Verify the prepared items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Exercise 2  |  Complete the steps, then check your result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164840" y="2262632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64840" y="23449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640328" y="225348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Confirm </a:t>
            </a:r>
            <a:r>
              <a:rPr lang="en-US" sz="1700" dirty="0" err="1">
                <a:solidFill>
                  <a:srgbClr val="182230"/>
                </a:solidFill>
              </a:rPr>
              <a:t>sales_warehouse</a:t>
            </a:r>
            <a:r>
              <a:rPr lang="en-US" sz="1700" dirty="0">
                <a:solidFill>
                  <a:srgbClr val="182230"/>
                </a:solidFill>
              </a:rPr>
              <a:t> is present.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164840" y="2975864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64840" y="30581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640328" y="29667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Confirm </a:t>
            </a:r>
            <a:r>
              <a:rPr lang="en-US" sz="1700" dirty="0" err="1">
                <a:solidFill>
                  <a:srgbClr val="182230"/>
                </a:solidFill>
              </a:rPr>
              <a:t>sales_dbt_project</a:t>
            </a:r>
            <a:r>
              <a:rPr lang="en-US" sz="1700" dirty="0">
                <a:solidFill>
                  <a:srgbClr val="182230"/>
                </a:solidFill>
              </a:rPr>
              <a:t> is present.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164840" y="3689096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64840" y="37713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640328" y="367995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82230"/>
                </a:solidFill>
              </a:rPr>
              <a:t>Open sales_warehouse and check that the SQL editor is available.</a:t>
            </a:r>
            <a:endParaRPr lang="en-US" sz="170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2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Create the seed tables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3012440" y="2263140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2440" y="23454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487928" y="22539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Open a new SQL query in </a:t>
            </a:r>
            <a:r>
              <a:rPr lang="en-US" sz="1700" dirty="0" err="1">
                <a:solidFill>
                  <a:srgbClr val="182230"/>
                </a:solidFill>
              </a:rPr>
              <a:t>sales_warehouse</a:t>
            </a:r>
            <a:r>
              <a:rPr lang="en-US" sz="1700" dirty="0">
                <a:solidFill>
                  <a:srgbClr val="182230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012440" y="2976372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2440" y="30586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487928" y="296722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Run </a:t>
            </a:r>
            <a:r>
              <a:rPr lang="en-US" sz="1700" dirty="0" err="1">
                <a:solidFill>
                  <a:srgbClr val="182230"/>
                </a:solidFill>
              </a:rPr>
              <a:t>sql</a:t>
            </a:r>
            <a:r>
              <a:rPr lang="en-US" sz="1700" dirty="0">
                <a:solidFill>
                  <a:srgbClr val="182230"/>
                </a:solidFill>
              </a:rPr>
              <a:t>/01_create_seed_tables.sql.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012440" y="3689604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12440" y="37719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87928" y="36804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Refresh the Warehouse explorer.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01000" y="1554480"/>
            <a:ext cx="3429000" cy="324612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2752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168B68"/>
                </a:solidFill>
              </a:rPr>
              <a:t>SUCCESS CHECK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302752" y="23957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82230"/>
                </a:solidFill>
              </a:rPr>
              <a:t>Schema seed contains customers, products, and orders.</a:t>
            </a:r>
            <a:endParaRPr lang="en-US" sz="190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3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Load the seed data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Exercise 4  |  Complete the steps, then check your result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593592" y="2196592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93592" y="22788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069080" y="218744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82230"/>
                </a:solidFill>
              </a:rPr>
              <a:t>Open a new SQL query.</a:t>
            </a:r>
            <a:endParaRPr lang="en-US" sz="1700"/>
          </a:p>
        </p:txBody>
      </p:sp>
      <p:sp>
        <p:nvSpPr>
          <p:cNvPr id="9" name="Shape 7"/>
          <p:cNvSpPr/>
          <p:nvPr/>
        </p:nvSpPr>
        <p:spPr>
          <a:xfrm>
            <a:off x="3593592" y="2909824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93592" y="29921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4069080" y="29006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82230"/>
                </a:solidFill>
              </a:rPr>
              <a:t>Run sql/02_load_seed_data.sql.</a:t>
            </a:r>
            <a:endParaRPr lang="en-US" sz="1700"/>
          </a:p>
        </p:txBody>
      </p:sp>
      <p:sp>
        <p:nvSpPr>
          <p:cNvPr id="12" name="Shape 10"/>
          <p:cNvSpPr/>
          <p:nvPr/>
        </p:nvSpPr>
        <p:spPr>
          <a:xfrm>
            <a:off x="3593592" y="3623056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93592" y="37053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4069080" y="361391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82230"/>
                </a:solidFill>
              </a:rPr>
              <a:t>Review the row-count results.</a:t>
            </a:r>
            <a:endParaRPr lang="en-US" sz="1700"/>
          </a:p>
        </p:txBody>
      </p:sp>
      <p:sp>
        <p:nvSpPr>
          <p:cNvPr id="15" name="Shape 13"/>
          <p:cNvSpPr/>
          <p:nvPr/>
        </p:nvSpPr>
        <p:spPr>
          <a:xfrm>
            <a:off x="8001000" y="1554480"/>
            <a:ext cx="3429000" cy="324612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2752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168B68"/>
                </a:solidFill>
              </a:rPr>
              <a:t>SUCCESS CHECK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302752" y="23957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82230"/>
                </a:solidFill>
              </a:rPr>
              <a:t>5 customers, 5 products, and 10 orders are loaded.</a:t>
            </a:r>
            <a:endParaRPr lang="en-US" sz="190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4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5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Configure the prepared dbt Job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Exercise 5  |  Complete the steps, then check your result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413761" y="2564892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13761" y="26471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889249" y="255574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Open </a:t>
            </a:r>
            <a:r>
              <a:rPr lang="en-US" sz="1700" dirty="0" err="1">
                <a:solidFill>
                  <a:srgbClr val="182230"/>
                </a:solidFill>
              </a:rPr>
              <a:t>sales_dbt_project</a:t>
            </a:r>
            <a:r>
              <a:rPr lang="en-US" sz="1700" dirty="0">
                <a:solidFill>
                  <a:srgbClr val="182230"/>
                </a:solidFill>
              </a:rPr>
              <a:t> item.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3761" y="3278124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3761" y="33604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889249" y="32689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Set up target warehouse.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01000" y="1554480"/>
            <a:ext cx="3429000" cy="324612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2752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168B68"/>
                </a:solidFill>
              </a:rPr>
              <a:t>SUCCESS CHECK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302752" y="23957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230"/>
                </a:solidFill>
              </a:rPr>
              <a:t>The </a:t>
            </a:r>
            <a:r>
              <a:rPr lang="en-US" sz="1900" b="1" dirty="0" err="1">
                <a:solidFill>
                  <a:srgbClr val="182230"/>
                </a:solidFill>
              </a:rPr>
              <a:t>dbt</a:t>
            </a:r>
            <a:r>
              <a:rPr lang="en-US" sz="1900" b="1" dirty="0">
                <a:solidFill>
                  <a:srgbClr val="182230"/>
                </a:solidFill>
              </a:rPr>
              <a:t> Job item target points to </a:t>
            </a:r>
            <a:r>
              <a:rPr lang="en-US" sz="1900" b="1" dirty="0" err="1">
                <a:solidFill>
                  <a:srgbClr val="182230"/>
                </a:solidFill>
              </a:rPr>
              <a:t>sales_warehouse</a:t>
            </a:r>
            <a:r>
              <a:rPr lang="en-US" sz="1900" b="1" dirty="0">
                <a:solidFill>
                  <a:srgbClr val="182230"/>
                </a:solidFill>
              </a:rPr>
              <a:t> in your workspace.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5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6–8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2230"/>
                </a:solidFill>
              </a:rPr>
              <a:t>Import the prepared project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Default path for the 90-minute lab; manual authoring is optional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089400" y="2778760"/>
            <a:ext cx="606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2230"/>
                </a:solidFill>
              </a:rPr>
              <a:t>Download the ZIP from </a:t>
            </a:r>
            <a:r>
              <a:rPr lang="en-US" sz="2000" dirty="0" err="1">
                <a:solidFill>
                  <a:srgbClr val="182230"/>
                </a:solidFill>
              </a:rPr>
              <a:t>github</a:t>
            </a:r>
            <a:r>
              <a:rPr lang="en-US" sz="2000" dirty="0">
                <a:solidFill>
                  <a:srgbClr val="182230"/>
                </a:solidFill>
              </a:rPr>
              <a:t> repository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2230"/>
                </a:solidFill>
              </a:rPr>
              <a:t>Upload or import it in </a:t>
            </a:r>
            <a:r>
              <a:rPr lang="en-US" sz="2000" dirty="0" err="1">
                <a:solidFill>
                  <a:srgbClr val="182230"/>
                </a:solidFill>
              </a:rPr>
              <a:t>dbt</a:t>
            </a:r>
            <a:r>
              <a:rPr lang="en-US" sz="2000" dirty="0">
                <a:solidFill>
                  <a:srgbClr val="182230"/>
                </a:solidFill>
              </a:rPr>
              <a:t> job item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2230"/>
                </a:solidFill>
              </a:rPr>
              <a:t>Verify project files after upload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2230"/>
                </a:solidFill>
              </a:rPr>
              <a:t>Continue at Exercise 9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9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Run selected models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Exercise 9  |  Complete the steps, then check your result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889249" y="2308352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89249" y="23906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364737" y="229920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Run model &amp; tests.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889249" y="3021584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89249" y="310388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4364737" y="30124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View status, lineage and compiled </a:t>
            </a:r>
            <a:r>
              <a:rPr lang="en-US" sz="1700" dirty="0" err="1">
                <a:solidFill>
                  <a:srgbClr val="182230"/>
                </a:solidFill>
              </a:rPr>
              <a:t>sql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889249" y="3734816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89249" y="38171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4364737" y="372567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Review the output panel for errors.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02168" y="1553972"/>
            <a:ext cx="3429000" cy="324612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2752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168B68"/>
                </a:solidFill>
              </a:rPr>
              <a:t>SUCCESS CHECK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302752" y="23957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230"/>
                </a:solidFill>
              </a:rPr>
              <a:t>All six models complete successfully.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9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10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2230"/>
                </a:solidFill>
              </a:rPr>
              <a:t>Run selected models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Exercise 10  |  Complete the steps, then check your result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590800" y="2263140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90800" y="23454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066288" y="22539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Different ways to run/test selected models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90800" y="2976372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90800" y="30586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066288" y="296722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Choose selected models to run in a schedule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10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Schedule the dbt Job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Exercise 12  |  Complete the steps, then check your result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96920" y="2404872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6920" y="24871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772408" y="239572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Open scheduling for </a:t>
            </a:r>
            <a:r>
              <a:rPr lang="en-US" sz="1700" dirty="0" err="1">
                <a:solidFill>
                  <a:srgbClr val="182230"/>
                </a:solidFill>
              </a:rPr>
              <a:t>sales_dbt_project</a:t>
            </a:r>
            <a:r>
              <a:rPr lang="en-US" sz="1700" dirty="0">
                <a:solidFill>
                  <a:srgbClr val="182230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96920" y="3118104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6920" y="32004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772408" y="31089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Configure the instructor-specified schedule.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96920" y="3831336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6920" y="39136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772408" y="382219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Save the schedule.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01000" y="1554480"/>
            <a:ext cx="3429000" cy="324612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2752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168B68"/>
                </a:solidFill>
              </a:rPr>
              <a:t>SUCCESS CHECK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302752" y="23957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82230"/>
                </a:solidFill>
              </a:rPr>
              <a:t>An enabled recurring schedule is visible.</a:t>
            </a:r>
            <a:endParaRPr lang="en-US" sz="190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12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Verify transformed data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Exercise 13  |  Complete the steps, then check your result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053080" y="2263140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53080" y="23454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528568" y="22539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Return to </a:t>
            </a:r>
            <a:r>
              <a:rPr lang="en-US" sz="1700" dirty="0" err="1">
                <a:solidFill>
                  <a:srgbClr val="182230"/>
                </a:solidFill>
              </a:rPr>
              <a:t>sales_warehouse</a:t>
            </a:r>
            <a:r>
              <a:rPr lang="en-US" sz="1700" dirty="0">
                <a:solidFill>
                  <a:srgbClr val="182230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053080" y="2976372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53080" y="30586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528568" y="296722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Run </a:t>
            </a:r>
            <a:r>
              <a:rPr lang="en-US" sz="1700" dirty="0" err="1">
                <a:solidFill>
                  <a:srgbClr val="182230"/>
                </a:solidFill>
              </a:rPr>
              <a:t>sql</a:t>
            </a:r>
            <a:r>
              <a:rPr lang="en-US" sz="1700" dirty="0">
                <a:solidFill>
                  <a:srgbClr val="182230"/>
                </a:solidFill>
              </a:rPr>
              <a:t>/03_verify_marts.sql.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053080" y="3689604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53080" y="37719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528568" y="36804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Review transformed rows and revenue totals.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01000" y="1554480"/>
            <a:ext cx="3429000" cy="324612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2752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168B68"/>
                </a:solidFill>
              </a:rPr>
              <a:t>SUCCESS CHECK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302752" y="23957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82230"/>
                </a:solidFill>
              </a:rPr>
              <a:t>fct_sales contains joined rows and calculated sales_amount.</a:t>
            </a:r>
            <a:endParaRPr lang="en-US" sz="190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13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Create a semantic model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Exercise 14  |  Complete the steps, then check your result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879600" y="2441448"/>
            <a:ext cx="310896" cy="310896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79600" y="25237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2355088" y="243230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82230"/>
                </a:solidFill>
              </a:rPr>
              <a:t>Start semantic model creation from sales_warehouse.</a:t>
            </a:r>
            <a:endParaRPr lang="en-US" sz="1700"/>
          </a:p>
        </p:txBody>
      </p:sp>
      <p:sp>
        <p:nvSpPr>
          <p:cNvPr id="9" name="Shape 7"/>
          <p:cNvSpPr/>
          <p:nvPr/>
        </p:nvSpPr>
        <p:spPr>
          <a:xfrm>
            <a:off x="1879600" y="3154680"/>
            <a:ext cx="310896" cy="310896"/>
          </a:xfrm>
          <a:prstGeom prst="ellipse">
            <a:avLst/>
          </a:prstGeom>
          <a:solidFill>
            <a:srgbClr val="1683FF"/>
          </a:solidFill>
          <a:ln w="12700">
            <a:solidFill>
              <a:srgbClr val="16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9600" y="32369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2355088" y="314553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82230"/>
                </a:solidFill>
              </a:rPr>
              <a:t>Include both dimensions and fct_sales.</a:t>
            </a:r>
            <a:endParaRPr lang="en-US" sz="1700"/>
          </a:p>
        </p:txBody>
      </p:sp>
      <p:sp>
        <p:nvSpPr>
          <p:cNvPr id="15" name="Shape 13"/>
          <p:cNvSpPr/>
          <p:nvPr/>
        </p:nvSpPr>
        <p:spPr>
          <a:xfrm>
            <a:off x="8001000" y="1554480"/>
            <a:ext cx="3429000" cy="324612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2752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168B68"/>
                </a:solidFill>
              </a:rPr>
              <a:t>SUCCESS CHECK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302752" y="23957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230"/>
                </a:solidFill>
              </a:rPr>
              <a:t>The semantic model contains three tables.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13232" y="6144768"/>
            <a:ext cx="2880360" cy="310896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DD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6236208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E36C8"/>
                </a:solidFill>
              </a:rPr>
              <a:t>INSTRUCTIONS  ›  EXERCISE 14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438912" cy="438912"/>
          </a:xfrm>
          <a:prstGeom prst="ellipse">
            <a:avLst/>
          </a:prstGeom>
          <a:solidFill>
            <a:srgbClr val="6E36C8"/>
          </a:solidFill>
          <a:ln w="12700">
            <a:solidFill>
              <a:srgbClr val="6E3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✓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170432" y="621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82230"/>
                </a:solidFill>
              </a:rPr>
              <a:t>Lab complete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7085"/>
                </a:solidFill>
              </a:rPr>
              <a:t>You transformed seed data into a tested, scheduled analytics model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166360" cy="749808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7556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8B68"/>
                </a:solidFill>
              </a:rPr>
              <a:t>✓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389888" y="17647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2230"/>
                </a:solidFill>
              </a:rPr>
              <a:t>Prepared workspace verified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166360" cy="749808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7556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8B68"/>
                </a:solidFill>
              </a:rPr>
              <a:t>✓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922008" y="17647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2230"/>
                </a:solidFill>
              </a:rPr>
              <a:t>Seed data loaded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5166360" cy="749808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8072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8B68"/>
                </a:solidFill>
              </a:rPr>
              <a:t>✓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389888" y="28163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2230"/>
                </a:solidFill>
              </a:rPr>
              <a:t>dbt target configured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6263640" y="2560320"/>
            <a:ext cx="5166360" cy="749808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28072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8B68"/>
                </a:solidFill>
              </a:rPr>
              <a:t>✓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922008" y="28163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2230"/>
                </a:solidFill>
              </a:rPr>
              <a:t>Models built or imported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5166360" cy="749808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38587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8B68"/>
                </a:solidFill>
              </a:rPr>
              <a:t>✓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1389888" y="3867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2230"/>
                </a:solidFill>
              </a:rPr>
              <a:t>DAG and tests reviewed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6263640" y="3611880"/>
            <a:ext cx="5166360" cy="749808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38587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8B68"/>
                </a:solidFill>
              </a:rPr>
              <a:t>✓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922008" y="3867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2230"/>
                </a:solidFill>
              </a:rPr>
              <a:t>Job scheduled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731520" y="4663440"/>
            <a:ext cx="5166360" cy="749808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8B68"/>
                </a:solidFill>
              </a:rPr>
              <a:t>✓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1389888" y="4919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2230"/>
                </a:solidFill>
              </a:rPr>
              <a:t>Warehouse data verified</a:t>
            </a:r>
            <a:endParaRPr lang="en-US" sz="1500"/>
          </a:p>
        </p:txBody>
      </p:sp>
      <p:sp>
        <p:nvSpPr>
          <p:cNvPr id="27" name="Shape 25"/>
          <p:cNvSpPr/>
          <p:nvPr/>
        </p:nvSpPr>
        <p:spPr>
          <a:xfrm>
            <a:off x="6263640" y="4663440"/>
            <a:ext cx="5166360" cy="749808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D9E0E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49103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8B68"/>
                </a:solidFill>
              </a:rPr>
              <a:t>✓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6922008" y="4919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2230"/>
                </a:solidFill>
              </a:rPr>
              <a:t>Semantic model created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1143000" y="58978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36C8"/>
                </a:solidFill>
              </a:rPr>
              <a:t>Optional challenge: create a report visual for revenue by customer and category, filtered by segment.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1189</Words>
  <Application>Microsoft Macintosh PowerPoint</Application>
  <PresentationFormat>Widescreen</PresentationFormat>
  <Paragraphs>233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 data using dbt Jobs in Microsoft Fabric Warehouse</dc:title>
  <dc:subject>90-minute hands-on lab</dc:subject>
  <dc:creator>Pradeep Srikakolapu</dc:creator>
  <cp:lastModifiedBy>Pradeep Srikakolapu</cp:lastModifiedBy>
  <cp:revision>4</cp:revision>
  <dcterms:created xsi:type="dcterms:W3CDTF">2026-09-10T17:49:34Z</dcterms:created>
  <dcterms:modified xsi:type="dcterms:W3CDTF">2026-09-12T04:15:35Z</dcterms:modified>
</cp:coreProperties>
</file>